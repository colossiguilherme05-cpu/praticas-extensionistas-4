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11B66D-07B3-451E-B679-9E7894C7A40A}" v="333" dt="2026-07-06T22:14:01.509"/>
    <p1510:client id="{62DC0696-F2CB-4296-8D94-D27A243C3D3F}" v="225" dt="2026-07-06T22:35:29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06.07.2026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019436" y="116006"/>
            <a:ext cx="8147713" cy="3081242"/>
          </a:xfrm>
        </p:spPr>
        <p:txBody>
          <a:bodyPr anchor="ctr">
            <a:normAutofit fontScale="90000"/>
          </a:bodyPr>
          <a:lstStyle/>
          <a:p>
            <a:br>
              <a:rPr lang="de-DE" sz="3700" dirty="0"/>
            </a:br>
            <a:br>
              <a:rPr lang="de-DE" sz="4800" dirty="0"/>
            </a:br>
            <a:r>
              <a:rPr lang="pt-BR" sz="4800" dirty="0">
                <a:solidFill>
                  <a:srgbClr val="FFFFFF"/>
                </a:solidFill>
                <a:latin typeface="Aptos"/>
              </a:rPr>
              <a:t>Práticas Extensionistas 3:</a:t>
            </a:r>
            <a:br>
              <a:rPr lang="pt-BR" sz="4800" dirty="0">
                <a:latin typeface="Aptos"/>
              </a:rPr>
            </a:br>
            <a:br>
              <a:rPr lang="de-DE" sz="4800" dirty="0"/>
            </a:br>
            <a:r>
              <a:rPr lang="de-DE" sz="4800" u="sng" dirty="0" err="1">
                <a:solidFill>
                  <a:srgbClr val="FFFFFF"/>
                </a:solidFill>
              </a:rPr>
              <a:t>Sistema</a:t>
            </a:r>
            <a:r>
              <a:rPr lang="de-DE" sz="4800" u="sng" dirty="0">
                <a:solidFill>
                  <a:srgbClr val="FFFFFF"/>
                </a:solidFill>
              </a:rPr>
              <a:t> Web </a:t>
            </a:r>
            <a:r>
              <a:rPr lang="de-DE" sz="4800" u="sng" dirty="0" err="1">
                <a:solidFill>
                  <a:srgbClr val="FFFFFF"/>
                </a:solidFill>
              </a:rPr>
              <a:t>para</a:t>
            </a:r>
            <a:r>
              <a:rPr lang="de-DE" sz="4800" u="sng" dirty="0">
                <a:solidFill>
                  <a:srgbClr val="FFFFFF"/>
                </a:solidFill>
              </a:rPr>
              <a:t> </a:t>
            </a:r>
            <a:r>
              <a:rPr lang="de-DE" sz="4800" u="sng" dirty="0" err="1">
                <a:solidFill>
                  <a:srgbClr val="FFFFFF"/>
                </a:solidFill>
              </a:rPr>
              <a:t>Gestão</a:t>
            </a:r>
            <a:r>
              <a:rPr lang="de-DE" sz="4800" u="sng" dirty="0">
                <a:solidFill>
                  <a:srgbClr val="FFFFFF"/>
                </a:solidFill>
              </a:rPr>
              <a:t> de </a:t>
            </a:r>
            <a:r>
              <a:rPr lang="de-DE" sz="4800" u="sng" dirty="0" err="1">
                <a:solidFill>
                  <a:srgbClr val="FFFFFF"/>
                </a:solidFill>
              </a:rPr>
              <a:t>Consultas</a:t>
            </a:r>
            <a:endParaRPr lang="de-DE" sz="4800" u="sng" dirty="0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69657" y="4017207"/>
            <a:ext cx="9651942" cy="18548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err="1">
                <a:solidFill>
                  <a:srgbClr val="FFFFFF"/>
                </a:solidFill>
              </a:rPr>
              <a:t>Acadêmico</a:t>
            </a:r>
            <a:r>
              <a:rPr lang="de-DE" dirty="0">
                <a:solidFill>
                  <a:srgbClr val="FFFFFF"/>
                </a:solidFill>
              </a:rPr>
              <a:t>: Guilherme Victor Colossi</a:t>
            </a:r>
          </a:p>
          <a:p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5" name="Imagem 4" descr="Identidade Visual - Unoesc">
            <a:extLst>
              <a:ext uri="{FF2B5EF4-FFF2-40B4-BE49-F238E27FC236}">
                <a16:creationId xmlns:a16="http://schemas.microsoft.com/office/drawing/2014/main" id="{00610138-A37E-CBC6-12AB-72B7764E4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886" y="5404119"/>
            <a:ext cx="1516743" cy="120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32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34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D5B8627-68CC-7F40-2324-33B0D6D8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261257"/>
            <a:ext cx="4784796" cy="1330840"/>
          </a:xfrm>
        </p:spPr>
        <p:txBody>
          <a:bodyPr>
            <a:normAutofit/>
          </a:bodyPr>
          <a:lstStyle/>
          <a:p>
            <a:r>
              <a:rPr lang="pt-BR">
                <a:ea typeface="+mj-lt"/>
                <a:cs typeface="+mj-lt"/>
              </a:rPr>
              <a:t>Problema Identificado</a:t>
            </a:r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B7FEAD-B041-AB9D-4E17-FCAED90F0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1744159"/>
            <a:ext cx="4438036" cy="39085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1800">
                <a:ea typeface="+mn-lt"/>
                <a:cs typeface="+mn-lt"/>
              </a:rPr>
              <a:t>O acesso à saúde pública ainda enfrenta diversos desafios:</a:t>
            </a:r>
            <a:endParaRPr lang="pt-BR" sz="1800" dirty="0"/>
          </a:p>
          <a:p>
            <a:pPr marL="0" indent="0">
              <a:buNone/>
            </a:pPr>
            <a:endParaRPr lang="pt-BR" sz="18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t-BR" sz="1800">
                <a:ea typeface="+mn-lt"/>
                <a:cs typeface="+mn-lt"/>
              </a:rPr>
              <a:t>Agendamentos realizados manualmente; </a:t>
            </a:r>
            <a:endParaRPr lang="pt-BR" sz="1800"/>
          </a:p>
          <a:p>
            <a:pPr>
              <a:buFont typeface="Arial"/>
              <a:buChar char="•"/>
            </a:pPr>
            <a:r>
              <a:rPr lang="pt-BR" sz="1800">
                <a:ea typeface="+mn-lt"/>
                <a:cs typeface="+mn-lt"/>
              </a:rPr>
              <a:t>Longas filas para marcação de consultas; </a:t>
            </a:r>
            <a:endParaRPr lang="pt-BR" sz="1800"/>
          </a:p>
          <a:p>
            <a:pPr>
              <a:buFont typeface="Arial"/>
              <a:buChar char="•"/>
            </a:pPr>
            <a:r>
              <a:rPr lang="pt-BR" sz="1800">
                <a:ea typeface="+mn-lt"/>
                <a:cs typeface="+mn-lt"/>
              </a:rPr>
              <a:t>Falta de organização das informações; </a:t>
            </a:r>
            <a:endParaRPr lang="pt-BR" sz="1800"/>
          </a:p>
          <a:p>
            <a:pPr>
              <a:buFont typeface="Arial"/>
              <a:buChar char="•"/>
            </a:pPr>
            <a:r>
              <a:rPr lang="pt-BR" sz="1800">
                <a:ea typeface="+mn-lt"/>
                <a:cs typeface="+mn-lt"/>
              </a:rPr>
              <a:t>Dificuldade no controle das solicitações de medicamentos; </a:t>
            </a:r>
            <a:endParaRPr lang="pt-BR" sz="1800"/>
          </a:p>
          <a:p>
            <a:pPr>
              <a:buFont typeface="Arial"/>
              <a:buChar char="•"/>
            </a:pPr>
            <a:r>
              <a:rPr lang="pt-BR" sz="1800">
                <a:ea typeface="+mn-lt"/>
                <a:cs typeface="+mn-lt"/>
              </a:rPr>
              <a:t>Pouca comunicação entre pacientes e unidades de saúde.</a:t>
            </a:r>
            <a:endParaRPr lang="pt-BR" sz="1800" dirty="0"/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b="1">
                <a:ea typeface="+mn-lt"/>
                <a:cs typeface="+mn-lt"/>
              </a:rPr>
              <a:t>Resultado:</a:t>
            </a:r>
            <a:r>
              <a:rPr lang="pt-BR" sz="1800">
                <a:ea typeface="+mn-lt"/>
                <a:cs typeface="+mn-lt"/>
              </a:rPr>
              <a:t> atrasos, retrabalho e desperdício de recursos.</a:t>
            </a:r>
            <a:endParaRPr lang="pt-BR" sz="1800"/>
          </a:p>
          <a:p>
            <a:endParaRPr lang="pt-BR" sz="1400"/>
          </a:p>
        </p:txBody>
      </p:sp>
      <p:pic>
        <p:nvPicPr>
          <p:cNvPr id="4" name="Imagem 3" descr="Grupo de pessoas sentadas em sala de aula&#10;&#10;O conteúdo gerado por IA pode estar incorreto.">
            <a:extLst>
              <a:ext uri="{FF2B5EF4-FFF2-40B4-BE49-F238E27FC236}">
                <a16:creationId xmlns:a16="http://schemas.microsoft.com/office/drawing/2014/main" id="{A6770085-1D5A-F8E2-E796-6934412480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6880610" y="1745550"/>
            <a:ext cx="4737650" cy="33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5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A2B60A-67BA-628B-120C-A7A0FC983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Solução</a:t>
            </a:r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3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Computacional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6BF0BE-D35A-854A-11A3-15A5D0C84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2935" y="2261575"/>
            <a:ext cx="2926080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 err="1"/>
              <a:t>Desenvolvimento</a:t>
            </a:r>
            <a:r>
              <a:rPr lang="en-US" sz="2000" b="1" dirty="0"/>
              <a:t> de um </a:t>
            </a:r>
            <a:r>
              <a:rPr lang="en-US" sz="2000" b="1" dirty="0" err="1"/>
              <a:t>sistema</a:t>
            </a:r>
            <a:r>
              <a:rPr lang="en-US" sz="2000" b="1" dirty="0"/>
              <a:t> web </a:t>
            </a:r>
            <a:r>
              <a:rPr lang="en-US" sz="2000" b="1" dirty="0" err="1"/>
              <a:t>utilizando</a:t>
            </a:r>
            <a:r>
              <a:rPr lang="en-US" sz="2000" b="1" dirty="0"/>
              <a:t>:</a:t>
            </a:r>
            <a:endParaRPr lang="pt-BR" b="1" dirty="0"/>
          </a:p>
          <a:p>
            <a:r>
              <a:rPr lang="en-US" sz="2000"/>
              <a:t>Python </a:t>
            </a:r>
          </a:p>
          <a:p>
            <a:r>
              <a:rPr lang="en-US" sz="2000"/>
              <a:t>Django </a:t>
            </a:r>
          </a:p>
          <a:p>
            <a:r>
              <a:rPr lang="en-US" sz="2000"/>
              <a:t>HTML </a:t>
            </a:r>
          </a:p>
          <a:p>
            <a:r>
              <a:rPr lang="en-US" sz="2000"/>
              <a:t>CSS </a:t>
            </a:r>
          </a:p>
          <a:p>
            <a:r>
              <a:rPr lang="en-US" sz="2000"/>
              <a:t>MySQL</a:t>
            </a:r>
          </a:p>
          <a:p>
            <a:endParaRPr lang="en-US" sz="200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4B141E-B627-195C-202B-9408E1C823EA}"/>
              </a:ext>
            </a:extLst>
          </p:cNvPr>
          <p:cNvSpPr txBox="1"/>
          <p:nvPr/>
        </p:nvSpPr>
        <p:spPr>
          <a:xfrm>
            <a:off x="8466118" y="2261575"/>
            <a:ext cx="2926080" cy="43638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 err="1"/>
              <a:t>Funcionalidades</a:t>
            </a:r>
            <a:r>
              <a:rPr lang="en-US" sz="2000" b="1" dirty="0"/>
              <a:t>:</a:t>
            </a:r>
            <a:endParaRPr lang="pt-BR" sz="2000" b="1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Cadastros</a:t>
            </a:r>
            <a:r>
              <a:rPr lang="en-US" sz="2000" dirty="0"/>
              <a:t> de </a:t>
            </a:r>
            <a:r>
              <a:rPr lang="en-US" sz="2000" dirty="0" err="1"/>
              <a:t>pacientes</a:t>
            </a:r>
            <a:r>
              <a:rPr lang="en-US" sz="2000" dirty="0"/>
              <a:t>, </a:t>
            </a:r>
            <a:r>
              <a:rPr lang="en-US" sz="2000" dirty="0" err="1"/>
              <a:t>profissionais</a:t>
            </a:r>
            <a:r>
              <a:rPr lang="en-US" sz="2000" dirty="0"/>
              <a:t>, </a:t>
            </a:r>
            <a:r>
              <a:rPr lang="en-US" sz="2000" dirty="0" err="1"/>
              <a:t>medicamentos</a:t>
            </a:r>
            <a:r>
              <a:rPr lang="en-US" sz="2000" dirty="0"/>
              <a:t>...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Agendamento</a:t>
            </a:r>
            <a:r>
              <a:rPr lang="en-US" sz="2000" dirty="0"/>
              <a:t> de </a:t>
            </a:r>
            <a:r>
              <a:rPr lang="en-US" sz="2000" dirty="0" err="1"/>
              <a:t>consultas</a:t>
            </a:r>
            <a:r>
              <a:rPr lang="en-US" sz="2000" dirty="0"/>
              <a:t>;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Solicitação</a:t>
            </a:r>
            <a:r>
              <a:rPr lang="en-US" sz="2000" dirty="0"/>
              <a:t> de </a:t>
            </a:r>
            <a:r>
              <a:rPr lang="en-US" sz="2000" dirty="0" err="1"/>
              <a:t>medicamentos</a:t>
            </a:r>
            <a:r>
              <a:rPr lang="en-US" sz="2000" dirty="0"/>
              <a:t>;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Relatórios</a:t>
            </a:r>
            <a:r>
              <a:rPr lang="en-US" sz="2000" dirty="0"/>
              <a:t> de </a:t>
            </a:r>
            <a:r>
              <a:rPr lang="en-US" sz="2000" dirty="0" err="1"/>
              <a:t>consultas</a:t>
            </a:r>
            <a:r>
              <a:rPr lang="en-US" sz="2000" dirty="0"/>
              <a:t>;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Contato</a:t>
            </a:r>
            <a:r>
              <a:rPr lang="en-US" sz="2000" dirty="0"/>
              <a:t> com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desenvolvedores</a:t>
            </a:r>
            <a:r>
              <a:rPr lang="en-US" sz="2000" dirty="0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C9FDFC3-88B2-267C-2B2D-AA4AC1A8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514" y="462816"/>
            <a:ext cx="1328058" cy="133531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CA76B75-A97C-784D-816E-7BDEF8A5E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4343" y="463744"/>
            <a:ext cx="1386116" cy="135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4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A34ED3-B78E-3E09-B14F-602280C3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Entidade-Relacionamento</a:t>
            </a:r>
          </a:p>
        </p:txBody>
      </p:sp>
      <p:pic>
        <p:nvPicPr>
          <p:cNvPr id="4" name="Espaço Reservado para Conteúdo 3" descr="Diagrama&#10;&#10;O conteúdo gerado por IA pode estar incorreto.">
            <a:extLst>
              <a:ext uri="{FF2B5EF4-FFF2-40B4-BE49-F238E27FC236}">
                <a16:creationId xmlns:a16="http://schemas.microsoft.com/office/drawing/2014/main" id="{BBE5BE42-2727-1925-EEB6-9C9C6F8C5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687" y="1712293"/>
            <a:ext cx="10621709" cy="472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471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79522-21D5-E9CE-19EF-13A3804D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6E1855-DCB4-FA13-BFF3-069157439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B47E32-A638-FE33-8CAB-043D4498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8EE675-40F0-BD40-66AC-9607F3DE4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8F9D0C-650B-EE9D-FE71-6A417A0F6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C64EF8-6092-5E5B-D7D8-BDC4C7DB4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dirty="0">
                <a:solidFill>
                  <a:srgbClr val="FFFFFF"/>
                </a:solidFill>
              </a:rPr>
              <a:t>de Casos de Uso</a:t>
            </a:r>
            <a:endParaRPr lang="en-US" sz="3700" kern="1200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6" name="Espaço Reservado para Conteúdo 5" descr="Diagrama&#10;&#10;O conteúdo gerado por IA pode estar incorreto.">
            <a:extLst>
              <a:ext uri="{FF2B5EF4-FFF2-40B4-BE49-F238E27FC236}">
                <a16:creationId xmlns:a16="http://schemas.microsoft.com/office/drawing/2014/main" id="{44BE668A-D456-3D5E-B52B-BD4611341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9258" y="1574625"/>
            <a:ext cx="8411028" cy="508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966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613C5A-7137-7330-C98E-1BFC895DD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1881" y="833498"/>
            <a:ext cx="8775727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u="sng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Demonstração</a:t>
            </a:r>
            <a:r>
              <a:rPr lang="en-US" sz="6000" u="sng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do </a:t>
            </a:r>
            <a:r>
              <a:rPr lang="en-US" sz="6000" u="sng" kern="120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Protótipo</a:t>
            </a:r>
            <a:endParaRPr lang="en-US" sz="6000" u="sng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44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CEFD03-C229-D195-FB90-6B4CCFB0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6693" y="1030406"/>
            <a:ext cx="8147713" cy="30812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Obrigado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pela </a:t>
            </a:r>
            <a:r>
              <a:rPr lang="en-US" sz="6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atenção</a:t>
            </a: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!</a:t>
            </a:r>
          </a:p>
        </p:txBody>
      </p:sp>
      <p:pic>
        <p:nvPicPr>
          <p:cNvPr id="6" name="Imagem 5" descr="Identidade Visual - Unoesc">
            <a:extLst>
              <a:ext uri="{FF2B5EF4-FFF2-40B4-BE49-F238E27FC236}">
                <a16:creationId xmlns:a16="http://schemas.microsoft.com/office/drawing/2014/main" id="{DCD4AE64-E376-6555-EFFC-ADB68258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1" y="4729205"/>
            <a:ext cx="1516743" cy="120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532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Tema do Office</vt:lpstr>
      <vt:lpstr>  Práticas Extensionistas 3:  Sistema Web para Gestão de Consultas</vt:lpstr>
      <vt:lpstr>Problema Identificado</vt:lpstr>
      <vt:lpstr>Solução Computacional</vt:lpstr>
      <vt:lpstr>Diagrama Entidade-Relacionamento</vt:lpstr>
      <vt:lpstr>Diagrama de Casos de Uso</vt:lpstr>
      <vt:lpstr>Demonstração do Protótipo</vt:lpstr>
      <vt:lpstr>Obrigado pela atenção!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200</cp:revision>
  <dcterms:created xsi:type="dcterms:W3CDTF">2026-07-06T21:28:13Z</dcterms:created>
  <dcterms:modified xsi:type="dcterms:W3CDTF">2026-07-06T22:37:27Z</dcterms:modified>
</cp:coreProperties>
</file>